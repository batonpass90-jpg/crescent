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8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4572000" cy="4572000"/>
          </a:xfrm>
          <a:prstGeom prst="ellipse">
            <a:avLst/>
          </a:prstGeom>
          <a:solidFill>
            <a:srgbClr val="F5C51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583680" y="-731520"/>
            <a:ext cx="2743200" cy="2743200"/>
          </a:xfrm>
          <a:prstGeom prst="ellipse">
            <a:avLst/>
          </a:prstGeom>
          <a:solidFill>
            <a:srgbClr val="F5C518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11480"/>
            <a:ext cx="502920" cy="50292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384048"/>
            <a:ext cx="384048" cy="384048"/>
          </a:xfrm>
          <a:prstGeom prst="ellipse">
            <a:avLst/>
          </a:prstGeom>
          <a:solidFill>
            <a:srgbClr val="07080F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840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Crescent Studio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005840"/>
            <a:ext cx="2011680" cy="256032"/>
          </a:xfrm>
          <a:prstGeom prst="rect">
            <a:avLst/>
          </a:prstGeom>
          <a:solidFill>
            <a:srgbClr val="F5C518">
              <a:alpha val="15000"/>
            </a:srgbClr>
          </a:solidFill>
          <a:ln w="6350">
            <a:solidFill>
              <a:srgbClr val="F5C518">
                <a:alpha val="4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0058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 · AI · DX 스튜디오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1463040"/>
            <a:ext cx="5943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아이디어를</a:t>
            </a:r>
            <a:endParaRPr lang="en-US" sz="4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매출로 바꾸는</a:t>
            </a:r>
            <a:endParaRPr lang="en-US" sz="4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합리적인 방법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48640" y="393192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아이디어만 주세요. 빠르고 합리적인 가격에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매출로 연결되는 앱과 웹을 만들어드립니다.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766560" y="1097280"/>
            <a:ext cx="1920240" cy="1005840"/>
          </a:xfrm>
          <a:prstGeom prst="rect">
            <a:avLst/>
          </a:prstGeom>
          <a:solidFill>
            <a:srgbClr val="FFFFFF">
              <a:alpha val="6000"/>
            </a:srgbClr>
          </a:solidFill>
          <a:ln w="6350">
            <a:solidFill>
              <a:srgbClr val="F5C518">
                <a:alpha val="30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766560" y="11887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766560" y="16642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 납품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66560" y="2331720"/>
            <a:ext cx="1920240" cy="1005840"/>
          </a:xfrm>
          <a:prstGeom prst="rect">
            <a:avLst/>
          </a:prstGeom>
          <a:solidFill>
            <a:srgbClr val="FFFFFF">
              <a:alpha val="6000"/>
            </a:srgbClr>
          </a:solidFill>
          <a:ln w="6350">
            <a:solidFill>
              <a:srgbClr val="F5C518">
                <a:alpha val="30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66560" y="24231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9개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766560" y="2898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템플릿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66560" y="3566160"/>
            <a:ext cx="1920240" cy="1005840"/>
          </a:xfrm>
          <a:prstGeom prst="rect">
            <a:avLst/>
          </a:prstGeom>
          <a:solidFill>
            <a:srgbClr val="FFFFFF">
              <a:alpha val="6000"/>
            </a:srgbClr>
          </a:solidFill>
          <a:ln w="6350">
            <a:solidFill>
              <a:srgbClr val="F5C518">
                <a:alpha val="30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66560" y="36576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1/3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76656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대비 비용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4800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crescentstudio.co.kr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D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1645920" cy="237744"/>
          </a:xfrm>
          <a:prstGeom prst="rect">
            <a:avLst/>
          </a:prstGeom>
          <a:solidFill>
            <a:srgbClr val="F5C518">
              <a:alpha val="12000"/>
            </a:srgbClr>
          </a:solidFill>
          <a:ln w="6350">
            <a:solidFill>
              <a:srgbClr val="F5C518">
                <a:alpha val="3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4747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사장님들의 고민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고민, 있으신가요?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298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디지털화가 필요한 건 알지만, 비용과 시간이 너무 부담스럽습니다.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23360" cy="1234440"/>
          </a:xfrm>
          <a:prstGeom prst="rect">
            <a:avLst/>
          </a:prstGeom>
          <a:solidFill>
            <a:srgbClr val="FFFFFF">
              <a:alpha val="4000"/>
            </a:srgbClr>
          </a:solidFill>
          <a:ln w="6350">
            <a:solidFill>
              <a:srgbClr val="DDE2F0">
                <a:alpha val="15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📞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43000" y="18470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 예약에 지쳐있어요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2176272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 중에 예약 전화 받느라 집중이 안 돼요.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노쇼도 잦고, 빈 슬롯을 채울 방법이 없어요.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46320" y="1737360"/>
            <a:ext cx="4023360" cy="1234440"/>
          </a:xfrm>
          <a:prstGeom prst="rect">
            <a:avLst/>
          </a:prstGeom>
          <a:solidFill>
            <a:srgbClr val="FFFFFF">
              <a:alpha val="4000"/>
            </a:srgbClr>
          </a:solidFill>
          <a:ln w="6350">
            <a:solidFill>
              <a:srgbClr val="DDE2F0">
                <a:alpha val="15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10912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💸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532120" y="18470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비용이 너무 비싸요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532120" y="2176272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 하나에 300만원 이상이라는데,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소규모 사업자에겐 너무 부담이에요.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4023360" cy="1234440"/>
          </a:xfrm>
          <a:prstGeom prst="rect">
            <a:avLst/>
          </a:prstGeom>
          <a:solidFill>
            <a:srgbClr val="FFFFFF">
              <a:alpha val="4000"/>
            </a:srgbClr>
          </a:solidFill>
          <a:ln w="6350">
            <a:solidFill>
              <a:srgbClr val="DDE2F0">
                <a:alpha val="15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355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143000" y="32644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관리를 엑셀로 해요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3000" y="3593592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단골 고객 정보, 방문 이력을 따로 기록하다 보니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놓치는 것들이 자꾸 생겨요.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46320" y="3154680"/>
            <a:ext cx="4023360" cy="1234440"/>
          </a:xfrm>
          <a:prstGeom prst="rect">
            <a:avLst/>
          </a:prstGeom>
          <a:solidFill>
            <a:srgbClr val="FFFFFF">
              <a:alpha val="4000"/>
            </a:srgbClr>
          </a:solidFill>
          <a:ln w="6350">
            <a:solidFill>
              <a:srgbClr val="DDE2F0">
                <a:alpha val="15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010912" y="3355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📉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532120" y="32644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재방문율을 높이고 싶어요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532120" y="3593592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온 손님이 다시 오게 하려면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어디서부터 시작해야 할지 모르겠어요.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8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1828800" cy="237744"/>
          </a:xfrm>
          <a:prstGeom prst="rect">
            <a:avLst/>
          </a:prstGeom>
          <a:solidFill>
            <a:srgbClr val="F5C518">
              <a:alpha val="12000"/>
            </a:srgbClr>
          </a:solidFill>
          <a:ln w="6350">
            <a:solidFill>
              <a:srgbClr val="F5C518">
                <a:alpha val="3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4747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맞춤 솔루션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업종별 완성형 앱, On 시리즈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298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처음부터 만들 필요 없어요. 업종에 맞게 이미 설계된 앱을 기업·브랜드에 맞게 전문적으로 세팅합니다.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1719072"/>
            <a:ext cx="4023360" cy="658368"/>
          </a:xfrm>
          <a:prstGeom prst="rect">
            <a:avLst/>
          </a:prstGeom>
          <a:solidFill>
            <a:srgbClr val="FFFFFF">
              <a:alpha val="4000"/>
            </a:srgbClr>
          </a:solidFill>
          <a:ln w="6350">
            <a:solidFill>
              <a:srgbClr val="DDE2F0">
                <a:alpha val="1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19072"/>
            <a:ext cx="54864" cy="658368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739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BeautyOn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85216" y="20574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뷰티·헤어·네일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148840" y="188366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✦  노쇼 감소 + 단골 재방문율 향상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46320" y="1719072"/>
            <a:ext cx="4023360" cy="658368"/>
          </a:xfrm>
          <a:prstGeom prst="rect">
            <a:avLst/>
          </a:prstGeom>
          <a:solidFill>
            <a:srgbClr val="FFFFFF">
              <a:alpha val="4000"/>
            </a:srgbClr>
          </a:solidFill>
          <a:ln w="6350">
            <a:solidFill>
              <a:srgbClr val="DDE2F0">
                <a:alpha val="1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46320" y="1719072"/>
            <a:ext cx="54864" cy="65836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3" name="Text 11"/>
          <p:cNvSpPr/>
          <p:nvPr/>
        </p:nvSpPr>
        <p:spPr>
          <a:xfrm>
            <a:off x="4974336" y="17739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CarOn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74336" y="20574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세차·정비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537960" y="188366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✦  예약 공백 제로 + 재방문 유도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523744"/>
            <a:ext cx="4023360" cy="658368"/>
          </a:xfrm>
          <a:prstGeom prst="rect">
            <a:avLst/>
          </a:prstGeom>
          <a:solidFill>
            <a:srgbClr val="FFFFFF">
              <a:alpha val="4000"/>
            </a:srgbClr>
          </a:solidFill>
          <a:ln w="6350">
            <a:solidFill>
              <a:srgbClr val="DDE2F0">
                <a:alpha val="1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23744"/>
            <a:ext cx="54864" cy="65836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585216" y="2578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EduOn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85216" y="28620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교육·학원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148840" y="268833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✦  수납 자동화 + 학부모 신뢰도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6320" y="2523744"/>
            <a:ext cx="4023360" cy="658368"/>
          </a:xfrm>
          <a:prstGeom prst="rect">
            <a:avLst/>
          </a:prstGeom>
          <a:solidFill>
            <a:srgbClr val="FFFFFF">
              <a:alpha val="4000"/>
            </a:srgbClr>
          </a:solidFill>
          <a:ln w="6350">
            <a:solidFill>
              <a:srgbClr val="DDE2F0">
                <a:alpha val="1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46320" y="2523744"/>
            <a:ext cx="54864" cy="658368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23" name="Text 21"/>
          <p:cNvSpPr/>
          <p:nvPr/>
        </p:nvSpPr>
        <p:spPr>
          <a:xfrm>
            <a:off x="4974336" y="2578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74336" y="28620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식당·F&amp;B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537960" y="268833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✦  AI 리뷰로 신규 고객 유입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3328416"/>
            <a:ext cx="4023360" cy="658368"/>
          </a:xfrm>
          <a:prstGeom prst="rect">
            <a:avLst/>
          </a:prstGeom>
          <a:solidFill>
            <a:srgbClr val="FFFFFF">
              <a:alpha val="4000"/>
            </a:srgbClr>
          </a:solidFill>
          <a:ln w="6350">
            <a:solidFill>
              <a:srgbClr val="DDE2F0">
                <a:alpha val="1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3328416"/>
            <a:ext cx="54864" cy="65836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8" name="Text 26"/>
          <p:cNvSpPr/>
          <p:nvPr/>
        </p:nvSpPr>
        <p:spPr>
          <a:xfrm>
            <a:off x="585216" y="3383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CareOn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85216" y="366674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요양·복지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148840" y="34930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✦  입소 문의 증가 + 운영 효율화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846320" y="3328416"/>
            <a:ext cx="4023360" cy="658368"/>
          </a:xfrm>
          <a:prstGeom prst="rect">
            <a:avLst/>
          </a:prstGeom>
          <a:solidFill>
            <a:srgbClr val="FFFFFF">
              <a:alpha val="4000"/>
            </a:srgbClr>
          </a:solidFill>
          <a:ln w="6350">
            <a:solidFill>
              <a:srgbClr val="DDE2F0">
                <a:alpha val="1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46320" y="3328416"/>
            <a:ext cx="54864" cy="65836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3" name="Text 31"/>
          <p:cNvSpPr/>
          <p:nvPr/>
        </p:nvSpPr>
        <p:spPr>
          <a:xfrm>
            <a:off x="4974336" y="3383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InsureOn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974336" y="366674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보험 영업인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537960" y="34930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✦  갱신율 향상 + 영업 시간 절약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651760" y="4133088"/>
            <a:ext cx="4023360" cy="658368"/>
          </a:xfrm>
          <a:prstGeom prst="rect">
            <a:avLst/>
          </a:prstGeom>
          <a:solidFill>
            <a:srgbClr val="FFFFFF">
              <a:alpha val="4000"/>
            </a:srgbClr>
          </a:solidFill>
          <a:ln w="6350">
            <a:solidFill>
              <a:srgbClr val="F5C518">
                <a:alpha val="2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51760" y="4133088"/>
            <a:ext cx="54864" cy="658368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38" name="Text 36"/>
          <p:cNvSpPr/>
          <p:nvPr/>
        </p:nvSpPr>
        <p:spPr>
          <a:xfrm>
            <a:off x="2779776" y="4187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FactoryOn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779776" y="447141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제조업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297680" y="42976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✦  생산 손실 감소 + 납기 준수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D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1645920" cy="237744"/>
          </a:xfrm>
          <a:prstGeom prst="rect">
            <a:avLst/>
          </a:prstGeom>
          <a:solidFill>
            <a:srgbClr val="F5C518">
              <a:alpha val="12000"/>
            </a:srgbClr>
          </a:solidFill>
          <a:ln w="6350">
            <a:solidFill>
              <a:srgbClr val="F5C518">
                <a:alpha val="3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4747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On 시리즈인가요?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노코드도 아니고, 풀개발도 아닌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44752"/>
            <a:ext cx="1965960" cy="347472"/>
          </a:xfrm>
          <a:prstGeom prst="rect">
            <a:avLst/>
          </a:prstGeom>
          <a:solidFill>
            <a:srgbClr val="FFFFFF">
              <a:alpha val="6000"/>
            </a:srgbClr>
          </a:solidFill>
          <a:ln w="6350">
            <a:solidFill>
              <a:srgbClr val="DDE2F0">
                <a:alpha val="1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4475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노코드 툴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651760" y="1444752"/>
            <a:ext cx="1965960" cy="347472"/>
          </a:xfrm>
          <a:prstGeom prst="rect">
            <a:avLst/>
          </a:prstGeom>
          <a:solidFill>
            <a:srgbClr val="FFFFFF">
              <a:alpha val="6000"/>
            </a:srgbClr>
          </a:solidFill>
          <a:ln w="6350">
            <a:solidFill>
              <a:srgbClr val="DDE2F0">
                <a:alpha val="18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144475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프리랜서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444752"/>
            <a:ext cx="1965960" cy="347472"/>
          </a:xfrm>
          <a:prstGeom prst="rect">
            <a:avLst/>
          </a:prstGeom>
          <a:solidFill>
            <a:srgbClr val="F5C518"/>
          </a:solidFill>
          <a:ln w="6350">
            <a:solidFill>
              <a:srgbClr val="F5C5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44475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8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 시리즈 ✦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040880" y="1444752"/>
            <a:ext cx="1965960" cy="347472"/>
          </a:xfrm>
          <a:prstGeom prst="rect">
            <a:avLst/>
          </a:prstGeom>
          <a:solidFill>
            <a:srgbClr val="FFFFFF">
              <a:alpha val="6000"/>
            </a:srgbClr>
          </a:solidFill>
          <a:ln w="6350">
            <a:solidFill>
              <a:srgbClr val="DDE2F0">
                <a:alpha val="18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144475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920240"/>
            <a:ext cx="8229600" cy="41148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202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DE2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비용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19202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2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무료~월 3만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651760" y="19202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2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50~200만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846320" y="1938528"/>
            <a:ext cx="1965960" cy="374904"/>
          </a:xfrm>
          <a:prstGeom prst="rect">
            <a:avLst/>
          </a:prstGeom>
          <a:solidFill>
            <a:srgbClr val="F5C518">
              <a:alpha val="12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19202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39만~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040880" y="19202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2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300~500만+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2377440"/>
            <a:ext cx="8229600" cy="411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23774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DE2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기간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7200" y="23774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2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즉시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651760" y="23774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2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2~6주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46320" y="2395728"/>
            <a:ext cx="1965960" cy="374904"/>
          </a:xfrm>
          <a:prstGeom prst="rect">
            <a:avLst/>
          </a:prstGeom>
          <a:solidFill>
            <a:srgbClr val="F5C518">
              <a:alpha val="12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846320" y="23774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1~2주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40880" y="23774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2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4~8주+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2834640"/>
            <a:ext cx="8229600" cy="41148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28346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DE2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맞춤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57200" y="28346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651760" y="28346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846320" y="2852928"/>
            <a:ext cx="1965960" cy="374904"/>
          </a:xfrm>
          <a:prstGeom prst="rect">
            <a:avLst/>
          </a:prstGeom>
          <a:solidFill>
            <a:srgbClr val="F5C518">
              <a:alpha val="12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846320" y="28346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040880" y="28346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D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3291840"/>
            <a:ext cx="8229600" cy="411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32918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DE2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브랜드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32918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2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제한적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651760" y="32918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D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846320" y="3310128"/>
            <a:ext cx="1965960" cy="374904"/>
          </a:xfrm>
          <a:prstGeom prst="rect">
            <a:avLst/>
          </a:prstGeom>
          <a:solidFill>
            <a:srgbClr val="F5C518">
              <a:alpha val="12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4846320" y="32918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040880" y="32918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D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DE2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 기획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57200" y="37490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2651760" y="37490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846320" y="3767328"/>
            <a:ext cx="1965960" cy="374904"/>
          </a:xfrm>
          <a:prstGeom prst="rect">
            <a:avLst/>
          </a:prstGeom>
          <a:solidFill>
            <a:srgbClr val="F5C518">
              <a:alpha val="12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4846320" y="37490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040880" y="37490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D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548640" y="42062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DE2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 컨설팅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57200" y="42062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2651760" y="42062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846320" y="4224528"/>
            <a:ext cx="1965960" cy="374904"/>
          </a:xfrm>
          <a:prstGeom prst="rect">
            <a:avLst/>
          </a:prstGeom>
          <a:solidFill>
            <a:srgbClr val="F5C518">
              <a:alpha val="12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4846320" y="42062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옵션 제공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040880" y="42062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8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1828800"/>
            <a:ext cx="4572000" cy="4572000"/>
          </a:xfrm>
          <a:prstGeom prst="ellipse">
            <a:avLst/>
          </a:prstGeom>
          <a:solidFill>
            <a:srgbClr val="F5C518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47472"/>
            <a:ext cx="1463040" cy="237744"/>
          </a:xfrm>
          <a:prstGeom prst="rect">
            <a:avLst/>
          </a:prstGeom>
          <a:solidFill>
            <a:srgbClr val="F5C518">
              <a:alpha val="12000"/>
            </a:srgbClr>
          </a:solidFill>
          <a:ln w="6350">
            <a:solidFill>
              <a:srgbClr val="F5C518">
                <a:alpha val="3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4747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플러스 옵션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앱만 드리지 않아요
</a:t>
            </a:r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매출까지 챙깁니다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1810512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 도입 후 실제 매출로 연결되도록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 컨설턴트가 함께합니다.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320040"/>
            <a:ext cx="3749040" cy="4572000"/>
          </a:xfrm>
          <a:prstGeom prst="rect">
            <a:avLst/>
          </a:prstGeom>
          <a:solidFill>
            <a:srgbClr val="F5C518">
              <a:alpha val="10000"/>
            </a:srgbClr>
          </a:solidFill>
          <a:ln w="10160">
            <a:solidFill>
              <a:srgbClr val="F5C518">
                <a:alpha val="40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212080" y="50292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 컨설팅 패키지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212080" y="9144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앱을 설치하는 것만으로는 매출이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오르지 않아요. 활용이 핵심입니다.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212080" y="1572768"/>
            <a:ext cx="3383280" cy="804672"/>
          </a:xfrm>
          <a:prstGeom prst="rect">
            <a:avLst/>
          </a:prstGeom>
          <a:solidFill>
            <a:srgbClr val="FFFFFF">
              <a:alpha val="5000"/>
            </a:srgbClr>
          </a:solidFill>
          <a:ln w="6350">
            <a:solidFill>
              <a:srgbClr val="F5C518">
                <a:alpha val="2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21808" y="1709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760720" y="1645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재방문 유도 설계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760720" y="193852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포인트, 쿠폰, 재예약 알림으로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단골 만드는 구조 설계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212080" y="2532888"/>
            <a:ext cx="3383280" cy="804672"/>
          </a:xfrm>
          <a:prstGeom prst="rect">
            <a:avLst/>
          </a:prstGeom>
          <a:solidFill>
            <a:srgbClr val="FFFFFF">
              <a:alpha val="5000"/>
            </a:srgbClr>
          </a:solidFill>
          <a:ln w="6350">
            <a:solidFill>
              <a:srgbClr val="F5C518">
                <a:alpha val="2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21808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760720" y="2606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슬롯 채우기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760720" y="289864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예약 공백 시간에 자동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프로모션 발송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212080" y="3493008"/>
            <a:ext cx="3383280" cy="804672"/>
          </a:xfrm>
          <a:prstGeom prst="rect">
            <a:avLst/>
          </a:prstGeom>
          <a:solidFill>
            <a:srgbClr val="FFFFFF">
              <a:alpha val="5000"/>
            </a:srgbClr>
          </a:solidFill>
          <a:ln w="6350">
            <a:solidFill>
              <a:srgbClr val="F5C518">
                <a:alpha val="2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21808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💰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760720" y="3566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업셀링 전략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760720" y="38587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데이터 기반 추가 구매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유도 및 프리미엄 전환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212080" y="4526280"/>
            <a:ext cx="2377440" cy="237744"/>
          </a:xfrm>
          <a:prstGeom prst="rect">
            <a:avLst/>
          </a:prstGeom>
          <a:solidFill>
            <a:srgbClr val="F5C518">
              <a:alpha val="18000"/>
            </a:srgbClr>
          </a:solidFill>
          <a:ln w="6350">
            <a:solidFill>
              <a:srgbClr val="F5C518">
                <a:alpha val="4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12080" y="45262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1회 · 전문가 섭외 · 별도 유료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7200" y="25146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📌  영업 포인트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2880360"/>
            <a:ext cx="4114800" cy="914400"/>
          </a:xfrm>
          <a:prstGeom prst="rect">
            <a:avLst/>
          </a:prstGeom>
          <a:solidFill>
            <a:srgbClr val="FFFFFF">
              <a:alpha val="4000"/>
            </a:srgbClr>
          </a:solidFill>
          <a:ln w="6350">
            <a:solidFill>
              <a:srgbClr val="F5C518">
                <a:alpha val="3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2926080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i="1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"누메이즈로 새 손님 받고,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i="1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BeautyOn으로 단골 만드세요."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i="1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경쟁이 아닌 병행 포지셔닝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D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1463040" cy="237744"/>
          </a:xfrm>
          <a:prstGeom prst="rect">
            <a:avLst/>
          </a:prstGeom>
          <a:solidFill>
            <a:srgbClr val="F5C518">
              <a:alpha val="12000"/>
            </a:srgbClr>
          </a:solidFill>
          <a:ln w="6350">
            <a:solidFill>
              <a:srgbClr val="F5C518">
                <a:alpha val="3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4747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과정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상담부터 출시까지 1~2주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508760" y="2084832"/>
            <a:ext cx="6309360" cy="0"/>
          </a:xfrm>
          <a:prstGeom prst="line">
            <a:avLst/>
          </a:prstGeom>
          <a:noFill/>
          <a:ln w="10160">
            <a:solidFill>
              <a:srgbClr val="F5C518">
                <a:alpha val="30000"/>
              </a:srgbClr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932688" y="1755648"/>
            <a:ext cx="566928" cy="566928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1755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8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487168"/>
            <a:ext cx="1828800" cy="2331720"/>
          </a:xfrm>
          <a:prstGeom prst="rect">
            <a:avLst/>
          </a:prstGeom>
          <a:solidFill>
            <a:srgbClr val="FFFFFF">
              <a:alpha val="5000"/>
            </a:srgbClr>
          </a:solidFill>
          <a:ln w="6350">
            <a:solidFill>
              <a:srgbClr val="DDE2F0">
                <a:alpha val="18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578608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상담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" y="3127248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업종, 현재 상황, 원하는 기능을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편하게 말씀해주세요.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기획서 없어도 됩니다.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" y="4206240"/>
            <a:ext cx="1097280" cy="219456"/>
          </a:xfrm>
          <a:prstGeom prst="rect">
            <a:avLst/>
          </a:prstGeom>
          <a:solidFill>
            <a:srgbClr val="F5C518">
              <a:alpha val="15000"/>
            </a:srgbClr>
          </a:solidFill>
          <a:ln w="6350">
            <a:solidFill>
              <a:srgbClr val="F5C518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20624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당일~1일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035808" y="1755648"/>
            <a:ext cx="566928" cy="566928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4" name="Text 12"/>
          <p:cNvSpPr/>
          <p:nvPr/>
        </p:nvSpPr>
        <p:spPr>
          <a:xfrm>
            <a:off x="3035808" y="1755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8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560320" y="2487168"/>
            <a:ext cx="1828800" cy="2331720"/>
          </a:xfrm>
          <a:prstGeom prst="rect">
            <a:avLst/>
          </a:prstGeom>
          <a:solidFill>
            <a:srgbClr val="FFFFFF">
              <a:alpha val="5000"/>
            </a:srgbClr>
          </a:solidFill>
          <a:ln w="6350">
            <a:solidFill>
              <a:srgbClr val="DDE2F0">
                <a:alpha val="18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670048" y="2578608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 시리즈 선택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 견적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70048" y="3127248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업종에 맞는 On 시리즈를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선택하고 명확한 견적을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드립니다.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670048" y="4206240"/>
            <a:ext cx="1097280" cy="219456"/>
          </a:xfrm>
          <a:prstGeom prst="rect">
            <a:avLst/>
          </a:prstGeom>
          <a:solidFill>
            <a:srgbClr val="F5C518">
              <a:alpha val="15000"/>
            </a:srgbClr>
          </a:solidFill>
          <a:ln w="6350">
            <a:solidFill>
              <a:srgbClr val="F5C518">
                <a:alpha val="4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70048" y="420624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1~2일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138928" y="1755648"/>
            <a:ext cx="566928" cy="566928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1" name="Text 19"/>
          <p:cNvSpPr/>
          <p:nvPr/>
        </p:nvSpPr>
        <p:spPr>
          <a:xfrm>
            <a:off x="5138928" y="1755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8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2487168"/>
            <a:ext cx="1828800" cy="2331720"/>
          </a:xfrm>
          <a:prstGeom prst="rect">
            <a:avLst/>
          </a:prstGeom>
          <a:solidFill>
            <a:srgbClr val="FFFFFF">
              <a:alpha val="5000"/>
            </a:srgbClr>
          </a:solidFill>
          <a:ln w="6350">
            <a:solidFill>
              <a:srgbClr val="DDE2F0">
                <a:alpha val="18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773168" y="2578608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맞춤 세팅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773168" y="3127248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아이덴티티, 디자인,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구성을 기업에 맞게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전문적으로 세팅합니다.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73168" y="4206240"/>
            <a:ext cx="1097280" cy="219456"/>
          </a:xfrm>
          <a:prstGeom prst="rect">
            <a:avLst/>
          </a:prstGeom>
          <a:solidFill>
            <a:srgbClr val="F5C518">
              <a:alpha val="15000"/>
            </a:srgbClr>
          </a:solidFill>
          <a:ln w="6350">
            <a:solidFill>
              <a:srgbClr val="F5C518">
                <a:alpha val="4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420624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3~7일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242048" y="1755648"/>
            <a:ext cx="566928" cy="566928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8" name="Text 26"/>
          <p:cNvSpPr/>
          <p:nvPr/>
        </p:nvSpPr>
        <p:spPr>
          <a:xfrm>
            <a:off x="7242048" y="1755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8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766560" y="2487168"/>
            <a:ext cx="1828800" cy="2331720"/>
          </a:xfrm>
          <a:prstGeom prst="rect">
            <a:avLst/>
          </a:prstGeom>
          <a:solidFill>
            <a:srgbClr val="FFFFFF">
              <a:alpha val="5000"/>
            </a:srgbClr>
          </a:solidFill>
          <a:ln w="6350">
            <a:solidFill>
              <a:srgbClr val="DDE2F0">
                <a:alpha val="18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876288" y="2578608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출시 +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교육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876288" y="3127248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완료 후 사용법을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알려드립니다. 유지보수는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이용료에 포함.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76288" y="4206240"/>
            <a:ext cx="1097280" cy="219456"/>
          </a:xfrm>
          <a:prstGeom prst="rect">
            <a:avLst/>
          </a:prstGeom>
          <a:solidFill>
            <a:srgbClr val="F5C518">
              <a:alpha val="15000"/>
            </a:srgbClr>
          </a:solidFill>
          <a:ln w="6350">
            <a:solidFill>
              <a:srgbClr val="F5C518">
                <a:alpha val="4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76288" y="420624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출시 완료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8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1463040" cy="237744"/>
          </a:xfrm>
          <a:prstGeom prst="rect">
            <a:avLst/>
          </a:prstGeom>
          <a:solidFill>
            <a:srgbClr val="F5C518">
              <a:alpha val="12000"/>
            </a:srgbClr>
          </a:solidFill>
          <a:ln w="6350">
            <a:solidFill>
              <a:srgbClr val="F5C518">
                <a:alpha val="3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4747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 안내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구독 플랜 4단계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298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제작비 49~249만원 + 월 구독료. 연간 선계약 시 2개월 무료.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8321040" cy="1097280"/>
          </a:xfrm>
          <a:prstGeom prst="rect">
            <a:avLst/>
          </a:prstGeom>
          <a:solidFill>
            <a:srgbClr val="F5C518">
              <a:alpha val="12000"/>
            </a:srgbClr>
          </a:solidFill>
          <a:ln w="10160">
            <a:solidFill>
              <a:srgbClr val="F5C518">
                <a:alpha val="40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8745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C51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Basic 2.9만 / Standard 5.9만 / Pro 9.9만 / Enterprise 19.9만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235915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선계약 시 2개월 무료 · 최소 계약 12개월 · 초기 제작비 49~249만원 별도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999232"/>
            <a:ext cx="2633472" cy="749808"/>
          </a:xfrm>
          <a:prstGeom prst="rect">
            <a:avLst/>
          </a:prstGeom>
          <a:solidFill>
            <a:srgbClr val="FFFFFF">
              <a:alpha val="4000"/>
            </a:srgbClr>
          </a:solidFill>
          <a:ln w="6350">
            <a:solidFill>
              <a:srgbClr val="DDE2F0">
                <a:alpha val="18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3072384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BeautyOn / CarOn / EduOn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383280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세팅 + 월 이용료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64408" y="2999232"/>
            <a:ext cx="2633472" cy="749808"/>
          </a:xfrm>
          <a:prstGeom prst="rect">
            <a:avLst/>
          </a:prstGeom>
          <a:solidFill>
            <a:srgbClr val="FFFFFF">
              <a:alpha val="4000"/>
            </a:srgbClr>
          </a:solidFill>
          <a:ln w="6350">
            <a:solidFill>
              <a:srgbClr val="DDE2F0">
                <a:alpha val="18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74136" y="3072384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ReviewOn / CareOn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74136" y="3383280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기능 포함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71616" y="2999232"/>
            <a:ext cx="2633472" cy="749808"/>
          </a:xfrm>
          <a:prstGeom prst="rect">
            <a:avLst/>
          </a:prstGeom>
          <a:solidFill>
            <a:srgbClr val="FFFFFF">
              <a:alpha val="4000"/>
            </a:srgbClr>
          </a:solidFill>
          <a:ln w="6350">
            <a:solidFill>
              <a:srgbClr val="DDE2F0">
                <a:alpha val="18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81344" y="3072384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InsureOn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81344" y="3383280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 CRM + AI 약관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913632"/>
            <a:ext cx="2633472" cy="749808"/>
          </a:xfrm>
          <a:prstGeom prst="rect">
            <a:avLst/>
          </a:prstGeom>
          <a:solidFill>
            <a:srgbClr val="FFFFFF">
              <a:alpha val="4000"/>
            </a:srgbClr>
          </a:solidFill>
          <a:ln w="6350">
            <a:solidFill>
              <a:srgbClr val="DDE2F0">
                <a:alpha val="18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986784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FactoryOn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" y="4297680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생산관리 통합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64408" y="3913632"/>
            <a:ext cx="2633472" cy="749808"/>
          </a:xfrm>
          <a:prstGeom prst="rect">
            <a:avLst/>
          </a:prstGeom>
          <a:solidFill>
            <a:srgbClr val="FFFFFF">
              <a:alpha val="4000"/>
            </a:srgbClr>
          </a:solidFill>
          <a:ln w="6350">
            <a:solidFill>
              <a:srgbClr val="DDE2F0">
                <a:alpha val="18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74136" y="3986784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374136" y="4297680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랜딩페이지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071616" y="3913632"/>
            <a:ext cx="2633472" cy="749808"/>
          </a:xfrm>
          <a:prstGeom prst="rect">
            <a:avLst/>
          </a:prstGeom>
          <a:solidFill>
            <a:srgbClr val="FFFFFF">
              <a:alpha val="4000"/>
            </a:srgbClr>
          </a:solidFill>
          <a:ln w="6350">
            <a:solidFill>
              <a:srgbClr val="DDE2F0">
                <a:alpha val="18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81344" y="3986784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CompanyOn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181344" y="4297680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홈페이지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8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0" y="-457200"/>
            <a:ext cx="5486400" cy="5486400"/>
          </a:xfrm>
          <a:prstGeom prst="ellipse">
            <a:avLst/>
          </a:prstGeom>
          <a:solidFill>
            <a:srgbClr val="F5C51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023360" y="457200"/>
            <a:ext cx="594360" cy="5943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4" name="Shape 2"/>
          <p:cNvSpPr/>
          <p:nvPr/>
        </p:nvSpPr>
        <p:spPr>
          <a:xfrm>
            <a:off x="4224528" y="438912"/>
            <a:ext cx="457200" cy="457200"/>
          </a:xfrm>
          <a:prstGeom prst="ellipse">
            <a:avLst/>
          </a:prstGeom>
          <a:solidFill>
            <a:srgbClr val="07080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바로 무료 상담 받으세요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기획서 없어도 됩니다.</a:t>
            </a:r>
            <a:endParaRPr lang="en-US" sz="1300" dirty="0"/>
          </a:p>
          <a:p>
            <a:pPr algn="ctr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아이디어나 고민만 말씀해주시면 24시간 내 답변드려요.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" y="2788920"/>
            <a:ext cx="2377440" cy="822960"/>
          </a:xfrm>
          <a:prstGeom prst="rect">
            <a:avLst/>
          </a:prstGeom>
          <a:solidFill>
            <a:srgbClr val="FFFFFF">
              <a:alpha val="5000"/>
            </a:srgbClr>
          </a:solidFill>
          <a:ln w="6350">
            <a:solidFill>
              <a:srgbClr val="DDE2F0">
                <a:alpha val="20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68096" y="2852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88720" y="285292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88720" y="3090672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batonpass90@gmail.com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55848" y="2788920"/>
            <a:ext cx="2377440" cy="822960"/>
          </a:xfrm>
          <a:prstGeom prst="rect">
            <a:avLst/>
          </a:prstGeom>
          <a:solidFill>
            <a:srgbClr val="FFFFFF">
              <a:alpha val="5000"/>
            </a:srgbClr>
          </a:solidFill>
          <a:ln w="6350">
            <a:solidFill>
              <a:srgbClr val="DDE2F0">
                <a:alpha val="20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65576" y="2852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💬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86200" y="285292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카카오채널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886200" y="3090672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pf.kakao.com/_BaxbxdX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53328" y="2788920"/>
            <a:ext cx="2377440" cy="822960"/>
          </a:xfrm>
          <a:prstGeom prst="rect">
            <a:avLst/>
          </a:prstGeom>
          <a:solidFill>
            <a:srgbClr val="FFFFFF">
              <a:alpha val="5000"/>
            </a:srgbClr>
          </a:solidFill>
          <a:ln w="6350">
            <a:solidFill>
              <a:srgbClr val="DDE2F0">
                <a:alpha val="20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63056" y="2852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📸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85292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9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583680" y="3090672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@crescent_ai_studio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0" y="3931920"/>
            <a:ext cx="3657600" cy="658368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743200" y="393192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08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상담 신청하기 →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crescentstudio.co.kr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Crescent Studio 사업소개서</dc:title>
  <dc:subject>PptxGenJS Presentation</dc:subject>
  <dc:creator>Crescent Studio</dc:creator>
  <cp:lastModifiedBy>Crescent Studio</cp:lastModifiedBy>
  <cp:revision>1</cp:revision>
  <dcterms:created xsi:type="dcterms:W3CDTF">2026-04-01T17:05:08Z</dcterms:created>
  <dcterms:modified xsi:type="dcterms:W3CDTF">2026-04-01T17:05:08Z</dcterms:modified>
</cp:coreProperties>
</file>